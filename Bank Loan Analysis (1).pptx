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theme/themeOverride1.xml" ContentType="application/vnd.openxmlformats-officedocument.themeOverride+xml"/>
  <Override PartName="/ppt/theme/themeOverride2.xml" ContentType="application/vnd.openxmlformats-officedocument.themeOverr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0" r:id="rId4"/>
  </p:sldMasterIdLst>
  <p:sldIdLst>
    <p:sldId id="298" r:id="rId5"/>
    <p:sldId id="300" r:id="rId6"/>
    <p:sldId id="310" r:id="rId7"/>
    <p:sldId id="311" r:id="rId8"/>
    <p:sldId id="315" r:id="rId9"/>
    <p:sldId id="313" r:id="rId10"/>
    <p:sldId id="314" r:id="rId11"/>
    <p:sldId id="312" r:id="rId12"/>
    <p:sldId id="316" r:id="rId13"/>
    <p:sldId id="317" r:id="rId14"/>
    <p:sldId id="308" r:id="rId15"/>
    <p:sldId id="309" r:id="rId1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291" autoAdjust="0"/>
  </p:normalViewPr>
  <p:slideViewPr>
    <p:cSldViewPr snapToGrid="0">
      <p:cViewPr varScale="1">
        <p:scale>
          <a:sx n="68" d="100"/>
          <a:sy n="68" d="100"/>
        </p:scale>
        <p:origin x="816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viewProps" Target="viewProps.xml"/><Relationship Id="rId3" Type="http://schemas.openxmlformats.org/officeDocument/2006/relationships/customXml" Target="../customXml/item3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presProps" Target="presProps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tableStyles" Target="tableStyle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10" Type="http://schemas.openxmlformats.org/officeDocument/2006/relationships/slide" Target="slides/slide6.xml"/><Relationship Id="rId19" Type="http://schemas.openxmlformats.org/officeDocument/2006/relationships/theme" Target="theme/theme1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39E3965E-AC41-4711-9D10-E25ABB132D86}"/>
              </a:ext>
            </a:extLst>
          </p:cNvPr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097280" y="758952"/>
            <a:ext cx="10058400" cy="3566160"/>
          </a:xfrm>
        </p:spPr>
        <p:txBody>
          <a:bodyPr anchor="b">
            <a:normAutofit/>
          </a:bodyPr>
          <a:lstStyle>
            <a:lvl1pPr algn="l">
              <a:lnSpc>
                <a:spcPct val="90000"/>
              </a:lnSpc>
              <a:defRPr sz="8000" spc="-50" baseline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00051" y="4645152"/>
            <a:ext cx="10058400" cy="1143000"/>
          </a:xfrm>
        </p:spPr>
        <p:txBody>
          <a:bodyPr lIns="91440" rIns="91440">
            <a:normAutofit/>
          </a:bodyPr>
          <a:lstStyle>
            <a:lvl1pPr marL="0" indent="0" algn="l">
              <a:buNone/>
              <a:defRPr sz="2400" cap="all" spc="200" baseline="0">
                <a:solidFill>
                  <a:schemeClr val="tx1"/>
                </a:solidFill>
                <a:latin typeface="+mn-lt"/>
              </a:defRPr>
            </a:lvl1pPr>
            <a:lvl2pPr marL="457200" indent="0" algn="ctr">
              <a:buNone/>
              <a:defRPr sz="2400"/>
            </a:lvl2pPr>
            <a:lvl3pPr marL="914400" indent="0" algn="ctr">
              <a:buNone/>
              <a:defRPr sz="2400"/>
            </a:lvl3pPr>
            <a:lvl4pPr marL="1371600" indent="0" algn="ctr">
              <a:buNone/>
              <a:defRPr sz="2000"/>
            </a:lvl4pPr>
            <a:lvl5pPr marL="1828800" indent="0" algn="ctr">
              <a:buNone/>
              <a:defRPr sz="2000"/>
            </a:lvl5pPr>
            <a:lvl6pPr marL="2286000" indent="0" algn="ctr">
              <a:buNone/>
              <a:defRPr sz="2000"/>
            </a:lvl6pPr>
            <a:lvl7pPr marL="2743200" indent="0" algn="ctr">
              <a:buNone/>
              <a:defRPr sz="2000"/>
            </a:lvl7pPr>
            <a:lvl8pPr marL="3200400" indent="0" algn="ctr">
              <a:buNone/>
              <a:defRPr sz="2000"/>
            </a:lvl8pPr>
            <a:lvl9pPr marL="3657600" indent="0" algn="ctr">
              <a:buNone/>
              <a:defRPr sz="20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1F5DC8C3-BA5F-4EED-BB9A-A14272BD82A1}"/>
              </a:ext>
            </a:extLst>
          </p:cNvPr>
          <p:cNvCxnSpPr/>
          <p:nvPr/>
        </p:nvCxnSpPr>
        <p:spPr>
          <a:xfrm>
            <a:off x="1207658" y="4474741"/>
            <a:ext cx="9875520" cy="0"/>
          </a:xfrm>
          <a:prstGeom prst="line">
            <a:avLst/>
          </a:prstGeom>
          <a:ln w="1270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925CCF1-92C0-4AF3-BFAF-4921631915A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184DA70-C731-4C70-880D-CCD4705E623C}" type="datetime1">
              <a:rPr lang="en-US" smtClean="0"/>
              <a:t>7/22/2023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51A78A9-3DFF-4937-A9F2-5D8CF495F36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FAEB271-5CC0-4759-BC6E-8BE53AB227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2343750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354D8B55-9EA8-4B81-8E84-9B93B0A2755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E1D723-8F53-4F53-90B0-1982A396982E}" type="datetime1">
              <a:rPr lang="en-US" smtClean="0"/>
              <a:t>7/22/2023</a:t>
            </a:fld>
            <a:endParaRPr lang="en-US" dirty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062CA021-2578-47CB-822C-BDDFF7223B2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C4AAB51D-4141-4682-9375-DAFD5FB9DD1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4046596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A585C21A-8B93-4657-B5DF-7EAEAD3BE127}"/>
              </a:ext>
            </a:extLst>
          </p:cNvPr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80" y="758952"/>
            <a:ext cx="10058400" cy="3566160"/>
          </a:xfrm>
        </p:spPr>
        <p:txBody>
          <a:bodyPr anchor="b" anchorCtr="0">
            <a:normAutofit/>
          </a:bodyPr>
          <a:lstStyle>
            <a:lvl1pPr>
              <a:lnSpc>
                <a:spcPct val="90000"/>
              </a:lnSpc>
              <a:defRPr sz="8000" b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4663440"/>
            <a:ext cx="10058400" cy="1143000"/>
          </a:xfrm>
        </p:spPr>
        <p:txBody>
          <a:bodyPr lIns="91440" rIns="91440" anchor="t" anchorCtr="0">
            <a:normAutofit/>
          </a:bodyPr>
          <a:lstStyle>
            <a:lvl1pPr marL="0" indent="0">
              <a:buNone/>
              <a:defRPr sz="2400" cap="all" spc="200" baseline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459DE2C1-4C52-40A3-8959-27B2C1BEBFF6}"/>
              </a:ext>
            </a:extLst>
          </p:cNvPr>
          <p:cNvCxnSpPr/>
          <p:nvPr/>
        </p:nvCxnSpPr>
        <p:spPr>
          <a:xfrm>
            <a:off x="1207658" y="4485132"/>
            <a:ext cx="9875520" cy="0"/>
          </a:xfrm>
          <a:prstGeom prst="line">
            <a:avLst/>
          </a:prstGeom>
          <a:ln w="1270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AAF2E137-EC28-48F8-9198-1F02539029B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669AF7-7BEB-44E4-9852-375E34362B5B}" type="datetime1">
              <a:rPr lang="en-US" smtClean="0"/>
              <a:t>7/22/2023</a:t>
            </a:fld>
            <a:endParaRPr lang="en-US" dirty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189422CD-6F62-4DD6-89EF-07A60B42D21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1" name="Slide Number Placeholder 10">
            <a:extLst>
              <a:ext uri="{FF2B5EF4-FFF2-40B4-BE49-F238E27FC236}">
                <a16:creationId xmlns:a16="http://schemas.microsoft.com/office/drawing/2014/main" id="{69C6AFF8-42B4-4D05-969B-9F5FB33555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6278354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097280" y="2120900"/>
            <a:ext cx="4639736" cy="374819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515944" y="2120900"/>
            <a:ext cx="4639736" cy="374819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5782D47D-B0DC-4C40-BCC6-BBBA32584A3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AAC38D-0552-4C82-B593-E6124DFADBE2}" type="datetime1">
              <a:rPr lang="en-US" smtClean="0"/>
              <a:t>7/22/2023</a:t>
            </a:fld>
            <a:endParaRPr lang="en-US" dirty="0"/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4690D34E-7EBD-44B2-83CA-4C126A18D7E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2AC511A1-9BBD-42DE-92FB-2AF44F8E97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8835959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2057400"/>
            <a:ext cx="4639736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97280" y="2958274"/>
            <a:ext cx="4639736" cy="291082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515944" y="2057400"/>
            <a:ext cx="4639736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515944" y="2958273"/>
            <a:ext cx="4639736" cy="291082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8AF8A515-AA94-45D1-9223-5C2272618D8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DF0F1C-5577-4ACB-BB62-DF8F3C494C7E}" type="datetime1">
              <a:rPr lang="en-US" smtClean="0"/>
              <a:t>7/22/2023</a:t>
            </a:fld>
            <a:endParaRPr lang="en-US" dirty="0"/>
          </a:p>
        </p:txBody>
      </p:sp>
      <p:sp>
        <p:nvSpPr>
          <p:cNvPr id="11" name="Footer Placeholder 10">
            <a:extLst>
              <a:ext uri="{FF2B5EF4-FFF2-40B4-BE49-F238E27FC236}">
                <a16:creationId xmlns:a16="http://schemas.microsoft.com/office/drawing/2014/main" id="{D052F5BC-98E0-4D60-AD67-9547738B7DD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2" name="Slide Number Placeholder 11">
            <a:extLst>
              <a:ext uri="{FF2B5EF4-FFF2-40B4-BE49-F238E27FC236}">
                <a16:creationId xmlns:a16="http://schemas.microsoft.com/office/drawing/2014/main" id="{A38552DC-952E-41EA-AAAF-C2187523C0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6392572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6" name="Date Placeholder 5">
            <a:extLst>
              <a:ext uri="{FF2B5EF4-FFF2-40B4-BE49-F238E27FC236}">
                <a16:creationId xmlns:a16="http://schemas.microsoft.com/office/drawing/2014/main" id="{7392073F-158F-44A3-8913-917AFFC1BC2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75B394-D9F9-4F0C-B15D-605F45CB9E9F}" type="datetime1">
              <a:rPr lang="en-US" smtClean="0"/>
              <a:t>7/22/2023</a:t>
            </a:fld>
            <a:endParaRPr lang="en-US" dirty="0"/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EED72207-24CA-42B7-A975-2F8E41CBA90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D01080F2-251A-4B88-9A62-16F46D724F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6854339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A8E9C91B-7EAD-4562-AB0E-DFB9663AECE3}"/>
              </a:ext>
            </a:extLst>
          </p:cNvPr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94E9223F-721F-47BF-9FD5-0F8D12FF0DE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9667345-2558-425A-8533-9BFDBCE15005}" type="datetime1">
              <a:rPr lang="en-US" smtClean="0"/>
              <a:t>7/22/2023</a:t>
            </a:fld>
            <a:endParaRPr lang="en-US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05915714-6BBA-4593-8591-4E26F7D58D9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E06F857-D2E1-44DD-ABDD-EBB739645B6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339375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16D90D66-BCB9-4229-A829-628874352AC0}"/>
              </a:ext>
            </a:extLst>
          </p:cNvPr>
          <p:cNvSpPr/>
          <p:nvPr/>
        </p:nvSpPr>
        <p:spPr>
          <a:xfrm>
            <a:off x="16" y="0"/>
            <a:ext cx="4654296" cy="6858000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43466" y="786383"/>
            <a:ext cx="3517567" cy="2093975"/>
          </a:xfrm>
        </p:spPr>
        <p:txBody>
          <a:bodyPr anchor="b">
            <a:normAutofit/>
          </a:bodyPr>
          <a:lstStyle>
            <a:lvl1pPr>
              <a:lnSpc>
                <a:spcPct val="90000"/>
              </a:lnSpc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458984" y="812799"/>
            <a:ext cx="5928344" cy="529475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43465" y="3043050"/>
            <a:ext cx="3517567" cy="3064505"/>
          </a:xfrm>
        </p:spPr>
        <p:txBody>
          <a:bodyPr lIns="91440" rIns="91440">
            <a:normAutofit/>
          </a:bodyPr>
          <a:lstStyle>
            <a:lvl1pPr marL="0" indent="0">
              <a:buNone/>
              <a:defRPr sz="18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643464" y="6446520"/>
            <a:ext cx="3517568" cy="365125"/>
          </a:xfrm>
        </p:spPr>
        <p:txBody>
          <a:bodyPr/>
          <a:lstStyle>
            <a:lvl1pPr algn="l">
              <a:defRPr/>
            </a:lvl1pPr>
          </a:lstStyle>
          <a:p>
            <a:fld id="{92BEA474-078D-4E9B-9B14-09A87B19DC46}" type="datetime1">
              <a:rPr lang="en-US" smtClean="0"/>
              <a:t>7/22/2023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5458983" y="6446520"/>
            <a:ext cx="5334019" cy="365125"/>
          </a:xfrm>
        </p:spPr>
        <p:txBody>
          <a:bodyPr/>
          <a:lstStyle>
            <a:lvl1pPr algn="l">
              <a:defRPr>
                <a:solidFill>
                  <a:schemeClr val="tx2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3A98EE3D-8CD1-4C3F-BD1C-C98C9596463C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7118442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DA134939-39C0-4522-A125-A13DFDA66490}"/>
              </a:ext>
            </a:extLst>
          </p:cNvPr>
          <p:cNvSpPr/>
          <p:nvPr/>
        </p:nvSpPr>
        <p:spPr>
          <a:xfrm>
            <a:off x="0" y="4578350"/>
            <a:ext cx="12188825" cy="2279650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5" y="0"/>
            <a:ext cx="12191985" cy="4578350"/>
          </a:xfrm>
          <a:solidFill>
            <a:schemeClr val="bg1">
              <a:lumMod val="85000"/>
            </a:schemeClr>
          </a:solidFill>
        </p:spPr>
        <p:txBody>
          <a:bodyPr lIns="457200" tIns="457200"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79" y="4799362"/>
            <a:ext cx="10113645" cy="743682"/>
          </a:xfrm>
        </p:spPr>
        <p:txBody>
          <a:bodyPr tIns="0" bIns="0" anchor="b">
            <a:noAutofit/>
          </a:bodyPr>
          <a:lstStyle>
            <a:lvl1pPr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97279" y="5715000"/>
            <a:ext cx="10113264" cy="609600"/>
          </a:xfrm>
        </p:spPr>
        <p:txBody>
          <a:bodyPr lIns="91440" tIns="0" rIns="91440" bIns="0">
            <a:normAutofit/>
          </a:bodyPr>
          <a:lstStyle>
            <a:lvl1pPr marL="0" indent="0">
              <a:spcBef>
                <a:spcPts val="0"/>
              </a:spcBef>
              <a:spcAft>
                <a:spcPts val="600"/>
              </a:spcAft>
              <a:buNone/>
              <a:defRPr sz="18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4907D986-8816-4272-A432-0437A28A9828}" type="datetime1">
              <a:rPr lang="en-US" smtClean="0"/>
              <a:t>7/22/2023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1097279" y="6446838"/>
            <a:ext cx="6818262" cy="365125"/>
          </a:xfrm>
        </p:spPr>
        <p:txBody>
          <a:bodyPr/>
          <a:lstStyle/>
          <a:p>
            <a:pPr algn="l"/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0161376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10" Type="http://schemas.openxmlformats.org/officeDocument/2006/relationships/theme" Target="../theme/theme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416A0E3C-60E6-4F39-BC55-5F7C224E1F7C}"/>
              </a:ext>
            </a:extLst>
          </p:cNvPr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2108201"/>
            <a:ext cx="10058400" cy="3760891"/>
          </a:xfrm>
          <a:prstGeom prst="rect">
            <a:avLst/>
          </a:prstGeom>
        </p:spPr>
        <p:txBody>
          <a:bodyPr vert="horz" lIns="0" tIns="45720" rIns="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218426" y="6446838"/>
            <a:ext cx="258485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800">
                <a:solidFill>
                  <a:srgbClr val="FFFFFF"/>
                </a:solidFill>
              </a:defRPr>
            </a:lvl1pPr>
          </a:lstStyle>
          <a:p>
            <a:fld id="{62D6E202-B606-4609-B914-27C9371A1F6D}" type="datetime1">
              <a:rPr lang="en-US" smtClean="0"/>
              <a:t>7/22/2023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097279" y="6446838"/>
            <a:ext cx="681826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800" cap="all" baseline="0">
                <a:solidFill>
                  <a:srgbClr val="FFFFFF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993582" y="6446838"/>
            <a:ext cx="78001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800">
                <a:solidFill>
                  <a:srgbClr val="FFFFFF"/>
                </a:solidFill>
              </a:defRPr>
            </a:lvl1pPr>
          </a:lstStyle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C5025DAC-8B93-4160-B017-3A274A5828C0}"/>
              </a:ext>
            </a:extLst>
          </p:cNvPr>
          <p:cNvCxnSpPr/>
          <p:nvPr/>
        </p:nvCxnSpPr>
        <p:spPr>
          <a:xfrm>
            <a:off x="1193532" y="1897380"/>
            <a:ext cx="9966960" cy="0"/>
          </a:xfrm>
          <a:prstGeom prst="line">
            <a:avLst/>
          </a:prstGeom>
          <a:ln w="1270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5460309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</p:sldLayoutIdLst>
  <p:hf sldNum="0"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700" i="0" kern="1200" spc="-50" baseline="0">
          <a:solidFill>
            <a:schemeClr val="tx1">
              <a:lumMod val="75000"/>
              <a:lumOff val="25000"/>
            </a:schemeClr>
          </a:solidFill>
          <a:latin typeface="+mj-lt"/>
          <a:ea typeface="+mj-ea"/>
          <a:cs typeface="+mj-cs"/>
        </a:defRPr>
      </a:lvl1pPr>
    </p:titleStyle>
    <p:bodyStyle>
      <a:lvl1pPr marL="91440" indent="-91440" algn="l" defTabSz="914400" rtl="0" eaLnBrk="1" latinLnBrk="0" hangingPunct="1">
        <a:lnSpc>
          <a:spcPct val="110000"/>
        </a:lnSpc>
        <a:spcBef>
          <a:spcPts val="1200"/>
        </a:spcBef>
        <a:spcAft>
          <a:spcPts val="200"/>
        </a:spcAft>
        <a:buClr>
          <a:schemeClr val="accent1"/>
        </a:buClr>
        <a:buSzPct val="100000"/>
        <a:buFont typeface="Calibri" panose="020F0502020204030204" pitchFamily="34" charset="0"/>
        <a:buChar char=" "/>
        <a:defRPr sz="19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384048" indent="-182880" algn="l" defTabSz="914400" rtl="0" eaLnBrk="1" latinLnBrk="0" hangingPunct="1">
        <a:lnSpc>
          <a:spcPct val="100000"/>
        </a:lnSpc>
        <a:spcBef>
          <a:spcPts val="200"/>
        </a:spcBef>
        <a:spcAft>
          <a:spcPts val="400"/>
        </a:spcAft>
        <a:buClrTx/>
        <a:buFont typeface="Calibri" pitchFamily="34" charset="0"/>
        <a:buChar char="◦"/>
        <a:defRPr sz="17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566928" indent="-182880" algn="l" defTabSz="914400" rtl="0" eaLnBrk="1" latinLnBrk="0" hangingPunct="1">
        <a:lnSpc>
          <a:spcPct val="100000"/>
        </a:lnSpc>
        <a:spcBef>
          <a:spcPts val="200"/>
        </a:spcBef>
        <a:spcAft>
          <a:spcPts val="400"/>
        </a:spcAft>
        <a:buClrTx/>
        <a:buFont typeface="Calibri" pitchFamily="34" charset="0"/>
        <a:buChar char="◦"/>
        <a:defRPr sz="13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749808" indent="-182880" algn="l" defTabSz="914400" rtl="0" eaLnBrk="1" latinLnBrk="0" hangingPunct="1">
        <a:lnSpc>
          <a:spcPct val="100000"/>
        </a:lnSpc>
        <a:spcBef>
          <a:spcPts val="200"/>
        </a:spcBef>
        <a:spcAft>
          <a:spcPts val="400"/>
        </a:spcAft>
        <a:buClrTx/>
        <a:buFont typeface="Calibri" pitchFamily="34" charset="0"/>
        <a:buChar char="◦"/>
        <a:defRPr sz="13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932688" indent="-182880" algn="l" defTabSz="914400" rtl="0" eaLnBrk="1" latinLnBrk="0" hangingPunct="1">
        <a:lnSpc>
          <a:spcPct val="100000"/>
        </a:lnSpc>
        <a:spcBef>
          <a:spcPts val="200"/>
        </a:spcBef>
        <a:spcAft>
          <a:spcPts val="400"/>
        </a:spcAft>
        <a:buClrTx/>
        <a:buFont typeface="Calibri" pitchFamily="34" charset="0"/>
        <a:buChar char="◦"/>
        <a:defRPr sz="13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11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13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15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17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slideLayout" Target="../slideLayouts/slideLayout1.xml"/><Relationship Id="rId1" Type="http://schemas.openxmlformats.org/officeDocument/2006/relationships/themeOverride" Target="../theme/themeOverride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hemeOverride" Target="../theme/themeOverride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Rectangle 32">
            <a:extLst>
              <a:ext uri="{FF2B5EF4-FFF2-40B4-BE49-F238E27FC236}">
                <a16:creationId xmlns:a16="http://schemas.microsoft.com/office/drawing/2014/main" id="{2FDF0794-1B86-42B2-B8C7-F60123E638E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" y="0"/>
            <a:ext cx="12188726" cy="6858975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Franklin Gothic Book" panose="020F0502020204030204"/>
              <a:ea typeface="+mn-ea"/>
              <a:cs typeface="+mn-cs"/>
            </a:endParaRPr>
          </a:p>
        </p:txBody>
      </p:sp>
      <p:pic>
        <p:nvPicPr>
          <p:cNvPr id="4" name="Picture 3" descr="A close up of a piece of paper with a pencil laying on top">
            <a:extLst>
              <a:ext uri="{FF2B5EF4-FFF2-40B4-BE49-F238E27FC236}">
                <a16:creationId xmlns:a16="http://schemas.microsoft.com/office/drawing/2014/main" id="{65810330-F0B5-43C9-BC34-094FFB5C0529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20" y="975"/>
            <a:ext cx="12191980" cy="6858000"/>
          </a:xfrm>
          <a:prstGeom prst="rect">
            <a:avLst/>
          </a:prstGeom>
        </p:spPr>
      </p:pic>
      <p:sp>
        <p:nvSpPr>
          <p:cNvPr id="35" name="Rectangle 34">
            <a:extLst>
              <a:ext uri="{FF2B5EF4-FFF2-40B4-BE49-F238E27FC236}">
                <a16:creationId xmlns:a16="http://schemas.microsoft.com/office/drawing/2014/main" id="{C5373426-E26E-431D-959C-5DB96C0B620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7912607" y="1238442"/>
            <a:ext cx="3635926" cy="4355751"/>
          </a:xfrm>
          <a:prstGeom prst="rect">
            <a:avLst/>
          </a:prstGeom>
          <a:solidFill>
            <a:schemeClr val="bg1">
              <a:alpha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Franklin Gothic Book" panose="020F0502020204030204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AB2EA78-AEB3-469B-9025-3B17201A457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8123416" y="1475234"/>
            <a:ext cx="3214307" cy="2901694"/>
          </a:xfrm>
        </p:spPr>
        <p:txBody>
          <a:bodyPr anchor="b">
            <a:normAutofit/>
          </a:bodyPr>
          <a:lstStyle/>
          <a:p>
            <a:r>
              <a:rPr lang="en-US" sz="4400" dirty="0">
                <a:solidFill>
                  <a:schemeClr val="tx1"/>
                </a:solidFill>
              </a:rPr>
              <a:t>Bank Loan Analysis  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55E1F2F-E259-4EA8-9FFD-3A10AF54185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8127750" y="4608576"/>
            <a:ext cx="3205640" cy="774186"/>
          </a:xfrm>
        </p:spPr>
        <p:txBody>
          <a:bodyPr anchor="t">
            <a:normAutofit lnSpcReduction="10000"/>
          </a:bodyPr>
          <a:lstStyle/>
          <a:p>
            <a:pPr>
              <a:lnSpc>
                <a:spcPct val="100000"/>
              </a:lnSpc>
            </a:pPr>
            <a:r>
              <a:rPr lang="en-US" sz="1600" dirty="0"/>
              <a:t>By group 2</a:t>
            </a:r>
            <a:br>
              <a:rPr lang="en-US" sz="1600" dirty="0"/>
            </a:br>
            <a:r>
              <a:rPr lang="en-US" sz="1600" i="1" dirty="0"/>
              <a:t>project P-176</a:t>
            </a:r>
            <a:br>
              <a:rPr lang="en-US" sz="1600" i="1" dirty="0"/>
            </a:br>
            <a:r>
              <a:rPr lang="en-US" sz="1600" i="1" dirty="0"/>
              <a:t>2023 </a:t>
            </a:r>
          </a:p>
        </p:txBody>
      </p:sp>
      <p:cxnSp>
        <p:nvCxnSpPr>
          <p:cNvPr id="37" name="Straight Connector 36">
            <a:extLst>
              <a:ext uri="{FF2B5EF4-FFF2-40B4-BE49-F238E27FC236}">
                <a16:creationId xmlns:a16="http://schemas.microsoft.com/office/drawing/2014/main" id="{96D07482-83A3-4451-943C-B4696108295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8176090" y="4508519"/>
            <a:ext cx="3108960" cy="0"/>
          </a:xfrm>
          <a:prstGeom prst="line">
            <a:avLst/>
          </a:prstGeom>
          <a:ln w="1905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9" name="Rectangle 38">
            <a:extLst>
              <a:ext uri="{FF2B5EF4-FFF2-40B4-BE49-F238E27FC236}">
                <a16:creationId xmlns:a16="http://schemas.microsoft.com/office/drawing/2014/main" id="{EDC90921-9082-491B-940E-827D679F347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" y="6400800"/>
            <a:ext cx="12192000" cy="457200"/>
          </a:xfrm>
          <a:prstGeom prst="rect">
            <a:avLst/>
          </a:prstGeom>
          <a:solidFill>
            <a:srgbClr val="262626">
              <a:alpha val="95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</p:spTree>
    <p:extLst>
      <p:ext uri="{BB962C8B-B14F-4D97-AF65-F5344CB8AC3E}">
        <p14:creationId xmlns:p14="http://schemas.microsoft.com/office/powerpoint/2010/main" val="193143965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5AC86D3-8FD1-4F47-A319-7D0542E48B2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 vert="horz" lIns="91440" tIns="45720" rIns="91440" bIns="45720" rtlCol="0">
            <a:normAutofit/>
          </a:bodyPr>
          <a:lstStyle/>
          <a:p>
            <a:r>
              <a:rPr lang="en-US" dirty="0"/>
              <a:t>KPI’s &amp; Analysis</a:t>
            </a:r>
          </a:p>
        </p:txBody>
      </p:sp>
      <p:graphicFrame>
        <p:nvGraphicFramePr>
          <p:cNvPr id="4" name="Table 4">
            <a:extLst>
              <a:ext uri="{FF2B5EF4-FFF2-40B4-BE49-F238E27FC236}">
                <a16:creationId xmlns:a16="http://schemas.microsoft.com/office/drawing/2014/main" id="{C266CDD0-3E96-40BD-8324-62D1DD86152D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463180959"/>
              </p:ext>
            </p:extLst>
          </p:nvPr>
        </p:nvGraphicFramePr>
        <p:xfrm>
          <a:off x="1097280" y="1992697"/>
          <a:ext cx="10058400" cy="2798804"/>
        </p:xfrm>
        <a:graphic>
          <a:graphicData uri="http://schemas.openxmlformats.org/drawingml/2006/table">
            <a:tbl>
              <a:tblPr firstRow="1" bandRow="1">
                <a:noFill/>
                <a:tableStyleId>{3B4B98B0-60AC-42C2-AFA5-B58CD77FA1E5}</a:tableStyleId>
              </a:tblPr>
              <a:tblGrid>
                <a:gridCol w="2011680">
                  <a:extLst>
                    <a:ext uri="{9D8B030D-6E8A-4147-A177-3AD203B41FA5}">
                      <a16:colId xmlns:a16="http://schemas.microsoft.com/office/drawing/2014/main" val="2981917977"/>
                    </a:ext>
                  </a:extLst>
                </a:gridCol>
                <a:gridCol w="2011680">
                  <a:extLst>
                    <a:ext uri="{9D8B030D-6E8A-4147-A177-3AD203B41FA5}">
                      <a16:colId xmlns:a16="http://schemas.microsoft.com/office/drawing/2014/main" val="945233394"/>
                    </a:ext>
                  </a:extLst>
                </a:gridCol>
                <a:gridCol w="2011680">
                  <a:extLst>
                    <a:ext uri="{9D8B030D-6E8A-4147-A177-3AD203B41FA5}">
                      <a16:colId xmlns:a16="http://schemas.microsoft.com/office/drawing/2014/main" val="2572263168"/>
                    </a:ext>
                  </a:extLst>
                </a:gridCol>
                <a:gridCol w="2011680">
                  <a:extLst>
                    <a:ext uri="{9D8B030D-6E8A-4147-A177-3AD203B41FA5}">
                      <a16:colId xmlns:a16="http://schemas.microsoft.com/office/drawing/2014/main" val="1765783061"/>
                    </a:ext>
                  </a:extLst>
                </a:gridCol>
                <a:gridCol w="2011680">
                  <a:extLst>
                    <a:ext uri="{9D8B030D-6E8A-4147-A177-3AD203B41FA5}">
                      <a16:colId xmlns:a16="http://schemas.microsoft.com/office/drawing/2014/main" val="252287362"/>
                    </a:ext>
                  </a:extLst>
                </a:gridCol>
              </a:tblGrid>
              <a:tr h="613018">
                <a:tc>
                  <a:txBody>
                    <a:bodyPr/>
                    <a:lstStyle/>
                    <a:p>
                      <a:r>
                        <a:rPr lang="en-US" sz="2400" b="0" cap="all" spc="150" dirty="0" err="1">
                          <a:solidFill>
                            <a:schemeClr val="lt1"/>
                          </a:solidFill>
                        </a:rPr>
                        <a:t>Kpi</a:t>
                      </a:r>
                      <a:r>
                        <a:rPr lang="en-US" sz="2400" b="0" cap="all" spc="150" dirty="0">
                          <a:solidFill>
                            <a:schemeClr val="lt1"/>
                          </a:solidFill>
                        </a:rPr>
                        <a:t> 1</a:t>
                      </a:r>
                    </a:p>
                  </a:txBody>
                  <a:tcPr marL="151061" marR="151061" marT="151061" marB="151061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2400" b="0" cap="all" spc="150" dirty="0" err="1">
                          <a:solidFill>
                            <a:schemeClr val="lt1"/>
                          </a:solidFill>
                        </a:rPr>
                        <a:t>Kpi</a:t>
                      </a:r>
                      <a:r>
                        <a:rPr lang="en-US" sz="2400" b="0" cap="all" spc="150" dirty="0">
                          <a:solidFill>
                            <a:schemeClr val="lt1"/>
                          </a:solidFill>
                        </a:rPr>
                        <a:t> 2</a:t>
                      </a:r>
                    </a:p>
                  </a:txBody>
                  <a:tcPr marL="151061" marR="151061" marT="151061" marB="151061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2400" b="0" cap="all" spc="150" dirty="0" err="1">
                          <a:solidFill>
                            <a:schemeClr val="lt1"/>
                          </a:solidFill>
                        </a:rPr>
                        <a:t>Kpi</a:t>
                      </a:r>
                      <a:r>
                        <a:rPr lang="en-US" sz="2400" b="0" cap="all" spc="150" dirty="0">
                          <a:solidFill>
                            <a:schemeClr val="lt1"/>
                          </a:solidFill>
                        </a:rPr>
                        <a:t> 3</a:t>
                      </a:r>
                    </a:p>
                  </a:txBody>
                  <a:tcPr marL="151061" marR="151061" marT="151061" marB="151061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2400" b="0" cap="all" spc="150" dirty="0" err="1">
                          <a:solidFill>
                            <a:schemeClr val="lt1"/>
                          </a:solidFill>
                        </a:rPr>
                        <a:t>Kpi</a:t>
                      </a:r>
                      <a:r>
                        <a:rPr lang="en-US" sz="2400" b="0" cap="all" spc="150" dirty="0">
                          <a:solidFill>
                            <a:schemeClr val="lt1"/>
                          </a:solidFill>
                        </a:rPr>
                        <a:t> 4</a:t>
                      </a:r>
                    </a:p>
                  </a:txBody>
                  <a:tcPr marL="151061" marR="151061" marT="151061" marB="151061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2400" b="0" cap="all" spc="150" dirty="0" err="1">
                          <a:solidFill>
                            <a:schemeClr val="lt1"/>
                          </a:solidFill>
                        </a:rPr>
                        <a:t>Kpi</a:t>
                      </a:r>
                      <a:r>
                        <a:rPr lang="en-US" sz="2400" b="0" cap="all" spc="150" dirty="0">
                          <a:solidFill>
                            <a:schemeClr val="lt1"/>
                          </a:solidFill>
                        </a:rPr>
                        <a:t> 5</a:t>
                      </a:r>
                    </a:p>
                  </a:txBody>
                  <a:tcPr marL="151061" marR="151061" marT="151061" marB="151061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solidFill>
                      <a:schemeClr val="accen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80512675"/>
                  </a:ext>
                </a:extLst>
              </a:tr>
              <a:tr h="978778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2000" b="1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Year wise loan amount Stats</a:t>
                      </a:r>
                    </a:p>
                    <a:p>
                      <a:endParaRPr lang="en-US" sz="2000" cap="none" spc="0" dirty="0">
                        <a:solidFill>
                          <a:schemeClr val="tx1"/>
                        </a:solidFill>
                      </a:endParaRPr>
                    </a:p>
                  </a:txBody>
                  <a:tcPr marL="151061" marR="151061" marT="151061" marB="151061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38100" cmpd="sng">
                      <a:noFill/>
                    </a:lnT>
                    <a:lnB w="12700" cmpd="sng">
                      <a:noFill/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2000" b="1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Grade and sub grade wise revolving balance</a:t>
                      </a: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2000" cap="none" spc="0" dirty="0">
                        <a:solidFill>
                          <a:schemeClr val="tx1"/>
                        </a:solidFill>
                      </a:endParaRPr>
                    </a:p>
                    <a:p>
                      <a:endParaRPr lang="en-US" sz="2000" cap="none" spc="0" dirty="0">
                        <a:solidFill>
                          <a:schemeClr val="tx1"/>
                        </a:solidFill>
                      </a:endParaRPr>
                    </a:p>
                  </a:txBody>
                  <a:tcPr marL="151061" marR="151061" marT="151061" marB="151061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38100" cmpd="sng">
                      <a:noFill/>
                    </a:lnT>
                    <a:lnB w="12700" cmpd="sng">
                      <a:noFill/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2000" b="1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Total Payment for Verified Status Vs Total Payment for Non Verified Status</a:t>
                      </a:r>
                      <a:endParaRPr lang="en-US" sz="2000" b="1" cap="none" spc="0" dirty="0">
                        <a:solidFill>
                          <a:schemeClr val="tx1"/>
                        </a:solidFill>
                      </a:endParaRPr>
                    </a:p>
                  </a:txBody>
                  <a:tcPr marL="151061" marR="151061" marT="151061" marB="151061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38100" cmpd="sng">
                      <a:noFill/>
                    </a:lnT>
                    <a:lnB w="12700" cmpd="sng">
                      <a:noFill/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2000" b="1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State wise and last credit pull date wise loan status</a:t>
                      </a: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2000" cap="none" spc="0" dirty="0">
                        <a:solidFill>
                          <a:schemeClr val="tx1"/>
                        </a:solidFill>
                      </a:endParaRPr>
                    </a:p>
                  </a:txBody>
                  <a:tcPr marL="151061" marR="151061" marT="151061" marB="151061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38100" cmpd="sng">
                      <a:noFill/>
                    </a:lnT>
                    <a:lnB w="12700" cmpd="sng">
                      <a:noFill/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2000" b="1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Home ownership Vs last payment date stats</a:t>
                      </a:r>
                    </a:p>
                  </a:txBody>
                  <a:tcPr marL="151061" marR="151061" marT="151061" marB="151061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38100" cmpd="sng">
                      <a:noFill/>
                    </a:lnT>
                    <a:lnB w="12700" cmpd="sng">
                      <a:noFill/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8536986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93351433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CF1931D1-27FE-4E82-9670-05F6DBE2D7CC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-25" b="9107"/>
          <a:stretch/>
        </p:blipFill>
        <p:spPr>
          <a:xfrm>
            <a:off x="0" y="604910"/>
            <a:ext cx="12192000" cy="5940083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C28A06E5-9311-4F70-A08F-A11FED61DC9A}"/>
              </a:ext>
            </a:extLst>
          </p:cNvPr>
          <p:cNvSpPr txBox="1"/>
          <p:nvPr/>
        </p:nvSpPr>
        <p:spPr>
          <a:xfrm>
            <a:off x="0" y="51397"/>
            <a:ext cx="4277709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2800" b="1" u="sng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TABLEAU DASHBOARD</a:t>
            </a:r>
            <a:endParaRPr lang="en-US" sz="2800" dirty="0">
              <a:solidFill>
                <a:srgbClr val="00206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13576749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DD6B9D74-E7D2-462E-B7D7-F935845EB3F6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5308" t="21114" r="28577" b="13623"/>
          <a:stretch/>
        </p:blipFill>
        <p:spPr>
          <a:xfrm>
            <a:off x="0" y="523220"/>
            <a:ext cx="12192000" cy="5835376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22DBAEEC-78B9-4012-8250-8F373A80D566}"/>
              </a:ext>
            </a:extLst>
          </p:cNvPr>
          <p:cNvSpPr txBox="1"/>
          <p:nvPr/>
        </p:nvSpPr>
        <p:spPr>
          <a:xfrm>
            <a:off x="0" y="0"/>
            <a:ext cx="430471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400" b="1" u="sng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POWER BI </a:t>
            </a:r>
            <a:r>
              <a:rPr lang="en-IN" sz="2800" b="1" u="sng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DASHBOARD</a:t>
            </a:r>
            <a:endParaRPr lang="en-US" sz="2400" dirty="0">
              <a:solidFill>
                <a:srgbClr val="00206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15210626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70E41040-2534-49F3-8C4D-75AB1510C5A7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4730" t="28503" r="31837" b="12597"/>
          <a:stretch/>
        </p:blipFill>
        <p:spPr>
          <a:xfrm>
            <a:off x="0" y="523220"/>
            <a:ext cx="12192000" cy="5976054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BC8A8B74-CA27-4B93-B550-4A8B15A08A29}"/>
              </a:ext>
            </a:extLst>
          </p:cNvPr>
          <p:cNvSpPr txBox="1"/>
          <p:nvPr/>
        </p:nvSpPr>
        <p:spPr>
          <a:xfrm>
            <a:off x="0" y="0"/>
            <a:ext cx="3758418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2800" b="1" u="sng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EXCEL DASHBOARD</a:t>
            </a:r>
            <a:endParaRPr lang="en-US" sz="2800" dirty="0">
              <a:solidFill>
                <a:srgbClr val="00206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69284674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6604E19A-02FB-4C0A-8F9B-F6C630F39F93}"/>
              </a:ext>
            </a:extLst>
          </p:cNvPr>
          <p:cNvSpPr txBox="1"/>
          <p:nvPr/>
        </p:nvSpPr>
        <p:spPr>
          <a:xfrm>
            <a:off x="0" y="0"/>
            <a:ext cx="1219200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b="1" dirty="0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Year Wise Loan Amount</a:t>
            </a:r>
            <a:endParaRPr lang="en-US" sz="2400" b="1" dirty="0">
              <a:solidFill>
                <a:srgbClr val="002060"/>
              </a:solidFill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3AB728E5-419B-48D8-8FDF-973B2A2B8AAA}"/>
              </a:ext>
            </a:extLst>
          </p:cNvPr>
          <p:cNvSpPr txBox="1"/>
          <p:nvPr/>
        </p:nvSpPr>
        <p:spPr>
          <a:xfrm>
            <a:off x="0" y="397844"/>
            <a:ext cx="12192000" cy="28265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buFont typeface="+mj-lt"/>
              <a:buAutoNum type="arabicPeriod"/>
            </a:pPr>
            <a:r>
              <a:rPr lang="en-US" sz="15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From 2007 to 2011 total $446 million of loan amount and 39,717 total number of loan have is issued.</a:t>
            </a:r>
          </a:p>
          <a:p>
            <a:pPr>
              <a:lnSpc>
                <a:spcPct val="150000"/>
              </a:lnSpc>
              <a:buFont typeface="+mj-lt"/>
              <a:buAutoNum type="arabicPeriod"/>
            </a:pPr>
            <a:r>
              <a:rPr lang="en-US" sz="15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The year 2011 is the year in which maximum loan amount was issued i.e. $260 million.</a:t>
            </a:r>
          </a:p>
          <a:p>
            <a:pPr>
              <a:lnSpc>
                <a:spcPct val="150000"/>
              </a:lnSpc>
              <a:buFont typeface="+mj-lt"/>
              <a:buAutoNum type="arabicPeriod"/>
            </a:pPr>
            <a:r>
              <a:rPr lang="en-US" sz="15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Most of the loan issued in December month except for year 2008.In this year maximum amount of loan issued in March month i.e. $2.69 million.</a:t>
            </a:r>
          </a:p>
          <a:p>
            <a:pPr>
              <a:lnSpc>
                <a:spcPct val="150000"/>
              </a:lnSpc>
              <a:buFont typeface="+mj-lt"/>
              <a:buAutoNum type="arabicPeriod"/>
            </a:pPr>
            <a:r>
              <a:rPr lang="en-US" sz="15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The maximum loan amount issued in California state i.e. $80 million</a:t>
            </a:r>
          </a:p>
          <a:p>
            <a:pPr>
              <a:lnSpc>
                <a:spcPct val="150000"/>
              </a:lnSpc>
              <a:buFont typeface="+mj-lt"/>
              <a:buAutoNum type="arabicPeriod"/>
            </a:pPr>
            <a:r>
              <a:rPr lang="en-US" sz="15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Loan issued for top 3 purpose are as follows :</a:t>
            </a:r>
          </a:p>
          <a:p>
            <a:pPr marL="0" indent="0">
              <a:lnSpc>
                <a:spcPct val="150000"/>
              </a:lnSpc>
              <a:buNone/>
            </a:pPr>
            <a:r>
              <a:rPr lang="en-US" sz="15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           a) Debt Consolidation($237 million)</a:t>
            </a:r>
          </a:p>
          <a:p>
            <a:pPr marL="0" indent="0">
              <a:lnSpc>
                <a:spcPct val="150000"/>
              </a:lnSpc>
              <a:buNone/>
            </a:pPr>
            <a:r>
              <a:rPr lang="en-US" sz="15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           b) Credit Card($60 million)</a:t>
            </a:r>
          </a:p>
          <a:p>
            <a:pPr marL="0" indent="0">
              <a:lnSpc>
                <a:spcPct val="150000"/>
              </a:lnSpc>
              <a:buNone/>
            </a:pPr>
            <a:r>
              <a:rPr lang="en-US" sz="15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           c) Home Improvement ($60 million)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D37F1B8F-A139-4AA6-91C8-B4BC6826D77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" y="3429000"/>
            <a:ext cx="5022167" cy="2887395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E9008A6E-7FA7-48B7-B58D-DE50125E3A0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134708" y="3429000"/>
            <a:ext cx="7057293" cy="288739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3988666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E4B071C0-182D-4A01-BA9F-9A36E10E45DB}"/>
              </a:ext>
            </a:extLst>
          </p:cNvPr>
          <p:cNvSpPr txBox="1"/>
          <p:nvPr/>
        </p:nvSpPr>
        <p:spPr>
          <a:xfrm>
            <a:off x="0" y="0"/>
            <a:ext cx="1219200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b="1" dirty="0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Grade/Sub-Grade Wise Revolving Balance</a:t>
            </a:r>
            <a:endParaRPr lang="en-US" sz="2400" b="1" dirty="0">
              <a:solidFill>
                <a:srgbClr val="002060"/>
              </a:solidFill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290369A3-08D1-4F45-8892-2A695A5C373F}"/>
              </a:ext>
            </a:extLst>
          </p:cNvPr>
          <p:cNvSpPr txBox="1"/>
          <p:nvPr/>
        </p:nvSpPr>
        <p:spPr>
          <a:xfrm>
            <a:off x="168813" y="461665"/>
            <a:ext cx="10480430" cy="21268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buFont typeface="+mj-lt"/>
              <a:buAutoNum type="arabicPeriod"/>
            </a:pPr>
            <a:r>
              <a:rPr lang="en-US" sz="1800" b="0" i="0" dirty="0">
                <a:solidFill>
                  <a:srgbClr val="040C28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The balance that carries over from one month to the next</a:t>
            </a:r>
            <a:r>
              <a:rPr lang="en-US" sz="1800" b="0" i="0" dirty="0">
                <a:solidFill>
                  <a:srgbClr val="202124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 is the revolving balance on that loan.</a:t>
            </a:r>
          </a:p>
          <a:p>
            <a:pPr>
              <a:lnSpc>
                <a:spcPct val="150000"/>
              </a:lnSpc>
              <a:buFont typeface="+mj-lt"/>
              <a:buAutoNum type="arabicPeriod"/>
            </a:pPr>
            <a:r>
              <a:rPr lang="en-US" sz="1800" dirty="0">
                <a:solidFill>
                  <a:srgbClr val="202124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The revolving balance is highest for grade B i.e. $161 million and for sub grade B3 i.e. $39 million.</a:t>
            </a:r>
          </a:p>
          <a:p>
            <a:pPr>
              <a:lnSpc>
                <a:spcPct val="150000"/>
              </a:lnSpc>
              <a:buFont typeface="+mj-lt"/>
              <a:buAutoNum type="arabicPeriod"/>
            </a:pPr>
            <a:r>
              <a:rPr lang="en-IN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Also, Annual income for sub grade B3 is highest i.e. $205 million.</a:t>
            </a:r>
          </a:p>
          <a:p>
            <a:pPr>
              <a:lnSpc>
                <a:spcPct val="150000"/>
              </a:lnSpc>
              <a:buFont typeface="+mj-lt"/>
              <a:buAutoNum type="arabicPeriod"/>
            </a:pPr>
            <a:r>
              <a:rPr lang="en-IN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In California state revolving balance is maximum i.e. $97 million.</a:t>
            </a:r>
          </a:p>
          <a:p>
            <a:pPr>
              <a:lnSpc>
                <a:spcPct val="150000"/>
              </a:lnSpc>
              <a:buFont typeface="+mj-lt"/>
              <a:buAutoNum type="arabicPeriod"/>
            </a:pPr>
            <a:r>
              <a:rPr lang="en-IN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For debt consolidation and for 36 months term we have the highest revolving balance i.e. $180 million.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0E1F5050-DDDB-477A-AFD7-9A7974E88ECC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1989" t="19369" r="16305" b="9108"/>
          <a:stretch/>
        </p:blipFill>
        <p:spPr>
          <a:xfrm>
            <a:off x="9608234" y="461666"/>
            <a:ext cx="2583766" cy="1704760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55CEC718-E158-45DC-91BB-CE0A3116FEA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2855742"/>
            <a:ext cx="12191999" cy="354059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4799170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7F010E09-8008-4B8D-98D4-46E6A4173490}"/>
              </a:ext>
            </a:extLst>
          </p:cNvPr>
          <p:cNvSpPr txBox="1"/>
          <p:nvPr/>
        </p:nvSpPr>
        <p:spPr>
          <a:xfrm>
            <a:off x="0" y="0"/>
            <a:ext cx="1219200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b="1" dirty="0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Total Payment for Verified/Not Verified Status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01572C46-7B03-483D-B640-F6A56779940E}"/>
              </a:ext>
            </a:extLst>
          </p:cNvPr>
          <p:cNvSpPr txBox="1"/>
          <p:nvPr/>
        </p:nvSpPr>
        <p:spPr>
          <a:xfrm>
            <a:off x="98474" y="468084"/>
            <a:ext cx="12093525" cy="336553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buFont typeface="+mj-lt"/>
              <a:buAutoNum type="arabicPeriod"/>
            </a:pPr>
            <a:r>
              <a:rPr lang="en-US" sz="1800" dirty="0"/>
              <a:t> Share of total payment for verified status is 58.88% and for not verified status is 41.12%.</a:t>
            </a:r>
          </a:p>
          <a:p>
            <a:pPr>
              <a:lnSpc>
                <a:spcPct val="150000"/>
              </a:lnSpc>
              <a:buFont typeface="+mj-lt"/>
              <a:buAutoNum type="arabicPeriod"/>
            </a:pPr>
            <a:r>
              <a:rPr lang="en-US" sz="1800" dirty="0"/>
              <a:t> Total payment for verified status is $220 million and for not verified status is $154 million, count of verified status is 12,809 and not verified status is 16,921.</a:t>
            </a:r>
          </a:p>
          <a:p>
            <a:pPr>
              <a:lnSpc>
                <a:spcPct val="150000"/>
              </a:lnSpc>
              <a:buFont typeface="+mj-lt"/>
              <a:buAutoNum type="arabicPeriod"/>
            </a:pPr>
            <a:r>
              <a:rPr lang="en-US" sz="1800" dirty="0"/>
              <a:t> Total principal received for verified status is $172 million and for not verified status is $129 million.</a:t>
            </a:r>
          </a:p>
          <a:p>
            <a:pPr>
              <a:lnSpc>
                <a:spcPct val="150000"/>
              </a:lnSpc>
              <a:buFont typeface="+mj-lt"/>
              <a:buAutoNum type="arabicPeriod"/>
            </a:pPr>
            <a:r>
              <a:rPr lang="en-US" sz="1800" dirty="0"/>
              <a:t> Total interest received for verified status is $46 million and for not verified status is $24 million.</a:t>
            </a:r>
          </a:p>
          <a:p>
            <a:pPr>
              <a:lnSpc>
                <a:spcPct val="150000"/>
              </a:lnSpc>
              <a:buFont typeface="+mj-lt"/>
              <a:buAutoNum type="arabicPeriod"/>
            </a:pPr>
            <a:r>
              <a:rPr lang="en-US" sz="1800" dirty="0"/>
              <a:t> For 36 months term we have total payment amount for verified status is $108 million and for not verified status is $15 million . Whereas, for 60 months term we have total payment amount for verified status is $112 million and for not verified status is $27 million.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D3A2CCB8-5929-4517-BA6A-BD3F9CB6D37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80009" y="3429000"/>
            <a:ext cx="3970390" cy="2802193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F8B508B0-EDA5-4D6A-B8AE-5566810343B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941361" y="3429000"/>
            <a:ext cx="3145175" cy="24372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1213815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C420AED4-6599-46C6-8349-B521A617DBA9}"/>
              </a:ext>
            </a:extLst>
          </p:cNvPr>
          <p:cNvSpPr txBox="1"/>
          <p:nvPr/>
        </p:nvSpPr>
        <p:spPr>
          <a:xfrm>
            <a:off x="-2344" y="0"/>
            <a:ext cx="12194344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b="1" dirty="0">
                <a:solidFill>
                  <a:srgbClr val="002060"/>
                </a:solidFill>
              </a:rPr>
              <a:t>State and Last Credit Pull Date Wise Loan Status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8E8456AB-3D0A-4A10-AADB-2EE249F1315B}"/>
              </a:ext>
            </a:extLst>
          </p:cNvPr>
          <p:cNvSpPr txBox="1"/>
          <p:nvPr/>
        </p:nvSpPr>
        <p:spPr>
          <a:xfrm>
            <a:off x="0" y="461665"/>
            <a:ext cx="12192000" cy="258532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Font typeface="+mj-lt"/>
              <a:buAutoNum type="arabicPeriod"/>
            </a:pPr>
            <a:r>
              <a:rPr lang="en-US" sz="1800" dirty="0"/>
              <a:t> Here, we have three types of loan status fully paid, charged off and current . Fully paid and current loan status comes under good category loan ,whereas, charged off loan status comes under bad category loan status.</a:t>
            </a:r>
          </a:p>
          <a:p>
            <a:pPr>
              <a:buFont typeface="+mj-lt"/>
              <a:buAutoNum type="arabicPeriod"/>
            </a:pPr>
            <a:r>
              <a:rPr lang="en-US" sz="1800" dirty="0"/>
              <a:t> In California state we have the highest count of loan status i.e. 7,099.In which we have 5,824 fully paid,1,125 charged off and 150 current.</a:t>
            </a:r>
          </a:p>
          <a:p>
            <a:pPr>
              <a:buFont typeface="+mj-lt"/>
              <a:buAutoNum type="arabicPeriod"/>
            </a:pPr>
            <a:r>
              <a:rPr lang="en-US" sz="1800" dirty="0"/>
              <a:t> Also, In year 2016 we have highest count of loan status 11,862 for fully paid , 2,376 for charged off and 1,133 for current loan status.</a:t>
            </a:r>
          </a:p>
          <a:p>
            <a:pPr>
              <a:buFont typeface="+mj-lt"/>
              <a:buAutoNum type="arabicPeriod"/>
            </a:pPr>
            <a:r>
              <a:rPr lang="en-US" sz="1800" dirty="0"/>
              <a:t> In California state we have highest last payment amount and received interest i.e. $18 million and $15 million , respectively.</a:t>
            </a:r>
          </a:p>
          <a:p>
            <a:pPr>
              <a:buFont typeface="+mj-lt"/>
              <a:buAutoNum type="arabicPeriod"/>
            </a:pPr>
            <a:r>
              <a:rPr lang="en-US" sz="1800" dirty="0"/>
              <a:t> Also, in California we have the highest number of total account 1,45,021 in which the number of open account is 62,679.</a:t>
            </a:r>
            <a:endParaRPr lang="en-IN" sz="1800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AC990A7F-CA34-4E65-9448-209E7681EDC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1832" y="3236628"/>
            <a:ext cx="5327274" cy="2974257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FCD62DE6-3FF5-456A-A25F-F1AADF8295F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970546" y="3236628"/>
            <a:ext cx="5853609" cy="297425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552604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155460E6-18E1-4AF2-BEB1-0966B312622A}"/>
              </a:ext>
            </a:extLst>
          </p:cNvPr>
          <p:cNvSpPr txBox="1"/>
          <p:nvPr/>
        </p:nvSpPr>
        <p:spPr>
          <a:xfrm>
            <a:off x="0" y="0"/>
            <a:ext cx="1219200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b="1" dirty="0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Home Ownership Vs. Last Payment Date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EB25D036-1092-4D37-862D-1740E5B31F09}"/>
              </a:ext>
            </a:extLst>
          </p:cNvPr>
          <p:cNvSpPr txBox="1"/>
          <p:nvPr/>
        </p:nvSpPr>
        <p:spPr>
          <a:xfrm>
            <a:off x="211015" y="562708"/>
            <a:ext cx="11732456" cy="18825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buFont typeface="+mj-lt"/>
              <a:buAutoNum type="arabicPeriod"/>
            </a:pPr>
            <a:r>
              <a:rPr lang="en-US" sz="2000" dirty="0"/>
              <a:t>There are five types of home ownership mortgage, rent, own, other and none.</a:t>
            </a:r>
          </a:p>
          <a:p>
            <a:pPr>
              <a:lnSpc>
                <a:spcPct val="150000"/>
              </a:lnSpc>
              <a:buFont typeface="+mj-lt"/>
              <a:buAutoNum type="arabicPeriod"/>
            </a:pPr>
            <a:r>
              <a:rPr lang="en-US" sz="2000" dirty="0"/>
              <a:t>For mortgage we have maximum last payment amount i.e. $56 million on 01-05-2016.</a:t>
            </a:r>
          </a:p>
          <a:p>
            <a:pPr>
              <a:lnSpc>
                <a:spcPct val="150000"/>
              </a:lnSpc>
              <a:buFont typeface="+mj-lt"/>
              <a:buAutoNum type="arabicPeriod"/>
            </a:pPr>
            <a:r>
              <a:rPr lang="en-US" sz="2000" dirty="0"/>
              <a:t>Last payment is highest for year 2012 i.e. $31 million and lowest for year 2008 i.e. $0.63 million.</a:t>
            </a:r>
          </a:p>
          <a:p>
            <a:pPr>
              <a:lnSpc>
                <a:spcPct val="150000"/>
              </a:lnSpc>
              <a:buFont typeface="+mj-lt"/>
              <a:buAutoNum type="arabicPeriod"/>
            </a:pPr>
            <a:r>
              <a:rPr lang="en-IN" sz="2000" dirty="0"/>
              <a:t>Year wise count of home ownership is maximum for 2013.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884F3975-B416-480D-8EE6-82F555DD770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21879" y="2832190"/>
            <a:ext cx="4664806" cy="3161071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B7EE2533-9117-4C9C-9A4C-090C46166C98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77243" y="2832190"/>
            <a:ext cx="5692878" cy="316107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8650172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1B9E8E0-D464-4505-9C46-36368343386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Meet Our Team Members: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598F7A5-4D3D-403B-9E09-BB88897D2AA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2000" b="1" dirty="0">
                <a:solidFill>
                  <a:srgbClr val="002060"/>
                </a:solidFill>
                <a:latin typeface="Garamond" panose="02020404030301010803" pitchFamily="18" charset="0"/>
              </a:rPr>
              <a:t>1.Srinivas  Babu</a:t>
            </a:r>
          </a:p>
          <a:p>
            <a:r>
              <a:rPr lang="en-US" sz="2000" b="1" dirty="0">
                <a:solidFill>
                  <a:srgbClr val="002060"/>
                </a:solidFill>
                <a:latin typeface="Garamond" panose="02020404030301010803" pitchFamily="18" charset="0"/>
              </a:rPr>
              <a:t>2.Krishna Reddy</a:t>
            </a:r>
          </a:p>
          <a:p>
            <a:r>
              <a:rPr lang="en-US" sz="2000" b="1" dirty="0">
                <a:solidFill>
                  <a:srgbClr val="002060"/>
                </a:solidFill>
                <a:latin typeface="Garamond" panose="02020404030301010803" pitchFamily="18" charset="0"/>
              </a:rPr>
              <a:t>3.Rajalakshmi S T</a:t>
            </a:r>
          </a:p>
          <a:p>
            <a:r>
              <a:rPr lang="en-US" sz="2000" b="1" dirty="0">
                <a:solidFill>
                  <a:srgbClr val="002060"/>
                </a:solidFill>
                <a:latin typeface="Garamond" panose="02020404030301010803" pitchFamily="18" charset="0"/>
              </a:rPr>
              <a:t>4.Sreerag A</a:t>
            </a:r>
          </a:p>
          <a:p>
            <a:r>
              <a:rPr lang="en-US" sz="2000" b="1" dirty="0">
                <a:solidFill>
                  <a:srgbClr val="002060"/>
                </a:solidFill>
                <a:latin typeface="Garamond" panose="02020404030301010803" pitchFamily="18" charset="0"/>
              </a:rPr>
              <a:t>5. Adnan Sakeer K</a:t>
            </a:r>
          </a:p>
          <a:p>
            <a:r>
              <a:rPr lang="en-US" sz="2000" b="1" dirty="0">
                <a:solidFill>
                  <a:srgbClr val="002060"/>
                </a:solidFill>
                <a:latin typeface="Garamond" panose="02020404030301010803" pitchFamily="18" charset="0"/>
              </a:rPr>
              <a:t>6.Farha Sulthana</a:t>
            </a:r>
          </a:p>
          <a:p>
            <a:r>
              <a:rPr lang="en-US" sz="2000" b="1" dirty="0">
                <a:solidFill>
                  <a:srgbClr val="002060"/>
                </a:solidFill>
                <a:latin typeface="Garamond" panose="02020404030301010803" pitchFamily="18" charset="0"/>
              </a:rPr>
              <a:t>7.Mahinder Gehlot</a:t>
            </a:r>
          </a:p>
        </p:txBody>
      </p:sp>
    </p:spTree>
    <p:extLst>
      <p:ext uri="{BB962C8B-B14F-4D97-AF65-F5344CB8AC3E}">
        <p14:creationId xmlns:p14="http://schemas.microsoft.com/office/powerpoint/2010/main" val="175333818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4860E28-E176-4B0B-B812-05FA5CB381C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i="1" dirty="0">
                <a:solidFill>
                  <a:srgbClr val="002060"/>
                </a:solidFill>
              </a:rPr>
              <a:t>Thank You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ACBEA26-15C0-44C6-8509-C707F1D04FA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2400" b="1" dirty="0">
                <a:solidFill>
                  <a:srgbClr val="002060"/>
                </a:solidFill>
                <a:latin typeface="Garamond" panose="02020404030301010803" pitchFamily="18" charset="0"/>
              </a:rPr>
              <a:t>Mr. </a:t>
            </a:r>
            <a:r>
              <a:rPr lang="en-US" sz="2400" b="1" dirty="0" err="1">
                <a:solidFill>
                  <a:srgbClr val="002060"/>
                </a:solidFill>
                <a:latin typeface="Garamond" panose="02020404030301010803" pitchFamily="18" charset="0"/>
              </a:rPr>
              <a:t>Bidhan</a:t>
            </a:r>
            <a:r>
              <a:rPr lang="en-US" sz="2400" b="1" dirty="0">
                <a:solidFill>
                  <a:srgbClr val="002060"/>
                </a:solidFill>
                <a:latin typeface="Garamond" panose="02020404030301010803" pitchFamily="18" charset="0"/>
              </a:rPr>
              <a:t> Sen Sir  and Ms. Thanuja Ma’am</a:t>
            </a:r>
            <a:br>
              <a:rPr lang="en-US" sz="2400" b="1" dirty="0">
                <a:solidFill>
                  <a:srgbClr val="002060"/>
                </a:solidFill>
                <a:latin typeface="Garamond" panose="02020404030301010803" pitchFamily="18" charset="0"/>
              </a:rPr>
            </a:br>
            <a:br>
              <a:rPr lang="en-US" sz="2400" b="1" dirty="0">
                <a:solidFill>
                  <a:srgbClr val="002060"/>
                </a:solidFill>
                <a:latin typeface="Garamond" panose="02020404030301010803" pitchFamily="18" charset="0"/>
              </a:rPr>
            </a:br>
            <a:r>
              <a:rPr lang="en-US" sz="2400" b="1" dirty="0">
                <a:solidFill>
                  <a:srgbClr val="002060"/>
                </a:solidFill>
                <a:latin typeface="Garamond" panose="02020404030301010803" pitchFamily="18" charset="0"/>
              </a:rPr>
              <a:t>For your Continuous Support and Assistance throughout the project journey.</a:t>
            </a:r>
          </a:p>
          <a:p>
            <a:endParaRPr lang="en-US" sz="2400" b="1" dirty="0">
              <a:solidFill>
                <a:srgbClr val="002060"/>
              </a:solidFill>
              <a:latin typeface="Garamond" panose="02020404030301010803" pitchFamily="18" charset="0"/>
            </a:endParaRPr>
          </a:p>
          <a:p>
            <a:pPr marL="0" indent="0">
              <a:buNone/>
            </a:pPr>
            <a:endParaRPr lang="en-US" sz="2400" b="1" dirty="0">
              <a:solidFill>
                <a:srgbClr val="002060"/>
              </a:solidFill>
              <a:latin typeface="Garamond" panose="02020404030301010803" pitchFamily="18" charset="0"/>
            </a:endParaRPr>
          </a:p>
          <a:p>
            <a:r>
              <a:rPr lang="en-US" sz="2400" b="1" dirty="0">
                <a:solidFill>
                  <a:srgbClr val="002060"/>
                </a:solidFill>
                <a:latin typeface="Garamond" panose="02020404030301010803" pitchFamily="18" charset="0"/>
              </a:rPr>
              <a:t>As Well as, Last but not the least, </a:t>
            </a:r>
          </a:p>
          <a:p>
            <a:r>
              <a:rPr lang="en-US" sz="2400" b="1" dirty="0">
                <a:solidFill>
                  <a:srgbClr val="002060"/>
                </a:solidFill>
                <a:latin typeface="Garamond" panose="02020404030301010803" pitchFamily="18" charset="0"/>
              </a:rPr>
              <a:t>Thanks to the Listeners and Project Mates. </a:t>
            </a:r>
          </a:p>
        </p:txBody>
      </p:sp>
    </p:spTree>
    <p:extLst>
      <p:ext uri="{BB962C8B-B14F-4D97-AF65-F5344CB8AC3E}">
        <p14:creationId xmlns:p14="http://schemas.microsoft.com/office/powerpoint/2010/main" val="3805495389"/>
      </p:ext>
    </p:extLst>
  </p:cSld>
  <p:clrMapOvr>
    <a:masterClrMapping/>
  </p:clrMapOvr>
</p:sld>
</file>

<file path=ppt/theme/theme1.xml><?xml version="1.0" encoding="utf-8"?>
<a:theme xmlns:a="http://schemas.openxmlformats.org/drawingml/2006/main" name="Custom">
  <a:themeElements>
    <a:clrScheme name="Custom 34">
      <a:dk1>
        <a:sysClr val="windowText" lastClr="000000"/>
      </a:dk1>
      <a:lt1>
        <a:sysClr val="window" lastClr="FFFFFF"/>
      </a:lt1>
      <a:dk2>
        <a:srgbClr val="39302A"/>
      </a:dk2>
      <a:lt2>
        <a:srgbClr val="E5DEDB"/>
      </a:lt2>
      <a:accent1>
        <a:srgbClr val="EC7016"/>
      </a:accent1>
      <a:accent2>
        <a:srgbClr val="F8931D"/>
      </a:accent2>
      <a:accent3>
        <a:srgbClr val="CE8D3E"/>
      </a:accent3>
      <a:accent4>
        <a:srgbClr val="E64823"/>
      </a:accent4>
      <a:accent5>
        <a:srgbClr val="FFCA08"/>
      </a:accent5>
      <a:accent6>
        <a:srgbClr val="9C6A6A"/>
      </a:accent6>
      <a:hlink>
        <a:srgbClr val="2998E3"/>
      </a:hlink>
      <a:folHlink>
        <a:srgbClr val="7F723D"/>
      </a:folHlink>
    </a:clrScheme>
    <a:fontScheme name="Retrospect">
      <a:majorFont>
        <a:latin typeface="Bookman Old Style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Franklin Gothic Book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Retrospec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shade val="92000"/>
                <a:satMod val="130000"/>
              </a:schemeClr>
            </a:gs>
            <a:gs pos="45000">
              <a:schemeClr val="phClr">
                <a:tint val="60000"/>
                <a:shade val="99000"/>
                <a:satMod val="120000"/>
              </a:schemeClr>
            </a:gs>
            <a:gs pos="100000">
              <a:schemeClr val="phClr">
                <a:tint val="55000"/>
                <a:satMod val="140000"/>
              </a:schemeClr>
            </a:gs>
          </a:gsLst>
          <a:path path="circle">
            <a:fillToRect l="100000" t="100000" r="100000" b="100000"/>
          </a:path>
        </a:gradFill>
        <a:gradFill rotWithShape="1">
          <a:gsLst>
            <a:gs pos="0">
              <a:schemeClr val="phClr">
                <a:shade val="85000"/>
                <a:satMod val="130000"/>
              </a:schemeClr>
            </a:gs>
            <a:gs pos="34000">
              <a:schemeClr val="phClr">
                <a:shade val="87000"/>
                <a:satMod val="125000"/>
              </a:schemeClr>
            </a:gs>
            <a:gs pos="70000">
              <a:schemeClr val="phClr">
                <a:tint val="100000"/>
                <a:shade val="90000"/>
                <a:satMod val="130000"/>
              </a:schemeClr>
            </a:gs>
            <a:gs pos="100000">
              <a:schemeClr val="phClr">
                <a:tint val="100000"/>
                <a:shade val="100000"/>
                <a:satMod val="110000"/>
              </a:schemeClr>
            </a:gs>
          </a:gsLst>
          <a:path path="circle">
            <a:fillToRect l="100000" t="100000" r="100000" b="100000"/>
          </a:path>
        </a:gradFill>
      </a:fillStyleLst>
      <a:lnStyleLst>
        <a:ln w="12700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2700000" algn="br" rotWithShape="0">
              <a:srgbClr val="000000">
                <a:alpha val="60000"/>
              </a:srgbClr>
            </a:outerShdw>
          </a:effectLst>
        </a:effectStyle>
        <a:effectStyle>
          <a:effectLst>
            <a:outerShdw blurRad="44450" dist="25400" dir="2700000" algn="br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9800000"/>
            </a:lightRig>
          </a:scene3d>
          <a:sp3d prstMaterial="flat">
            <a:bevelT w="25400" h="31750"/>
          </a:sp3d>
        </a:effectStyle>
      </a:effectStyleLst>
      <a:bgFillStyleLst>
        <a:solidFill>
          <a:schemeClr val="phClr"/>
        </a:solidFill>
        <a:solidFill>
          <a:schemeClr val="phClr">
            <a:tint val="90000"/>
            <a:shade val="97000"/>
            <a:satMod val="130000"/>
          </a:schemeClr>
        </a:solidFill>
        <a:gradFill rotWithShape="1">
          <a:gsLst>
            <a:gs pos="0">
              <a:schemeClr val="phClr">
                <a:tint val="96000"/>
                <a:shade val="99000"/>
                <a:satMod val="140000"/>
              </a:schemeClr>
            </a:gs>
            <a:gs pos="65000">
              <a:schemeClr val="phClr">
                <a:tint val="100000"/>
                <a:shade val="80000"/>
                <a:satMod val="130000"/>
              </a:schemeClr>
            </a:gs>
            <a:gs pos="100000">
              <a:schemeClr val="phClr">
                <a:tint val="100000"/>
                <a:shade val="48000"/>
                <a:satMod val="120000"/>
              </a:schemeClr>
            </a:gs>
          </a:gsLst>
          <a:lin ang="162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RetrospectVTI" id="{F5B7AB07-F859-4656-A1C1-DAFCFA0ACA4B}" vid="{A6E2497D-935A-4CFD-B9FD-6DCB15FA68BF}"/>
    </a:ext>
  </a:extLst>
</a:theme>
</file>

<file path=ppt/theme/themeOverride1.xml><?xml version="1.0" encoding="utf-8"?>
<a:themeOverride xmlns:a="http://schemas.openxmlformats.org/drawingml/2006/main">
  <a:clrScheme name="Parcel">
    <a:dk1>
      <a:srgbClr val="000000"/>
    </a:dk1>
    <a:lt1>
      <a:srgbClr val="FFFFFF"/>
    </a:lt1>
    <a:dk2>
      <a:srgbClr val="4A5356"/>
    </a:dk2>
    <a:lt2>
      <a:srgbClr val="E8E3CE"/>
    </a:lt2>
    <a:accent1>
      <a:srgbClr val="F6A21D"/>
    </a:accent1>
    <a:accent2>
      <a:srgbClr val="9BAFB5"/>
    </a:accent2>
    <a:accent3>
      <a:srgbClr val="C96731"/>
    </a:accent3>
    <a:accent4>
      <a:srgbClr val="9CA383"/>
    </a:accent4>
    <a:accent5>
      <a:srgbClr val="87795D"/>
    </a:accent5>
    <a:accent6>
      <a:srgbClr val="A0988C"/>
    </a:accent6>
    <a:hlink>
      <a:srgbClr val="00B0F0"/>
    </a:hlink>
    <a:folHlink>
      <a:srgbClr val="738F97"/>
    </a:folHlink>
  </a:clrScheme>
</a:themeOverride>
</file>

<file path=ppt/theme/themeOverride2.xml><?xml version="1.0" encoding="utf-8"?>
<a:themeOverride xmlns:a="http://schemas.openxmlformats.org/drawingml/2006/main">
  <a:clrScheme name="Parcel">
    <a:dk1>
      <a:srgbClr val="000000"/>
    </a:dk1>
    <a:lt1>
      <a:srgbClr val="FFFFFF"/>
    </a:lt1>
    <a:dk2>
      <a:srgbClr val="4A5356"/>
    </a:dk2>
    <a:lt2>
      <a:srgbClr val="E8E3CE"/>
    </a:lt2>
    <a:accent1>
      <a:srgbClr val="F6A21D"/>
    </a:accent1>
    <a:accent2>
      <a:srgbClr val="9BAFB5"/>
    </a:accent2>
    <a:accent3>
      <a:srgbClr val="C96731"/>
    </a:accent3>
    <a:accent4>
      <a:srgbClr val="9CA383"/>
    </a:accent4>
    <a:accent5>
      <a:srgbClr val="87795D"/>
    </a:accent5>
    <a:accent6>
      <a:srgbClr val="A0988C"/>
    </a:accent6>
    <a:hlink>
      <a:srgbClr val="00B0F0"/>
    </a:hlink>
    <a:folHlink>
      <a:srgbClr val="738F97"/>
    </a:folHlink>
  </a:clrScheme>
</a:themeOverrid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9F111ED35F8CC479449609E8A0923A6" ma:contentTypeVersion="27" ma:contentTypeDescription="Create a new document." ma:contentTypeScope="" ma:versionID="c6f9a84f66a9c8b9a21755b9ffafb945">
  <xsd:schema xmlns:xsd="http://www.w3.org/2001/XMLSchema" xmlns:xs="http://www.w3.org/2001/XMLSchema" xmlns:p="http://schemas.microsoft.com/office/2006/metadata/properties" xmlns:ns1="http://schemas.microsoft.com/sharepoint/v3" xmlns:ns2="71af3243-3dd4-4a8d-8c0d-dd76da1f02a5" xmlns:ns3="16c05727-aa75-4e4a-9b5f-8a80a1165891" xmlns:ns4="230e9df3-be65-4c73-a93b-d1236ebd677e" targetNamespace="http://schemas.microsoft.com/office/2006/metadata/properties" ma:root="true" ma:fieldsID="27df39e3e7036dff54f89ddd5805ce72" ns1:_="" ns2:_="" ns3:_="" ns4:_="">
    <xsd:import namespace="http://schemas.microsoft.com/sharepoint/v3"/>
    <xsd:import namespace="71af3243-3dd4-4a8d-8c0d-dd76da1f02a5"/>
    <xsd:import namespace="16c05727-aa75-4e4a-9b5f-8a80a1165891"/>
    <xsd:import namespace="230e9df3-be65-4c73-a93b-d1236ebd677e"/>
    <xsd:element name="properties">
      <xsd:complexType>
        <xsd:sequence>
          <xsd:element name="documentManagement">
            <xsd:complexType>
              <xsd:all>
                <xsd:element ref="ns2:Status" minOccurs="0"/>
                <xsd:element ref="ns2:Image" minOccurs="0"/>
                <xsd:element ref="ns2:MediaServiceMetadata" minOccurs="0"/>
                <xsd:element ref="ns2:MediaServiceFastMetadata" minOccurs="0"/>
                <xsd:element ref="ns2:MediaServiceOCR" minOccurs="0"/>
                <xsd:element ref="ns2:MediaServiceAutoTags" minOccurs="0"/>
                <xsd:element ref="ns2:MediaServiceEventHashCode" minOccurs="0"/>
                <xsd:element ref="ns2:MediaServiceGenerationTime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MediaServiceDateTaken" minOccurs="0"/>
                <xsd:element ref="ns1:_ip_UnifiedCompliancePolicyProperties" minOccurs="0"/>
                <xsd:element ref="ns1:_ip_UnifiedCompliancePolicyUIAction" minOccurs="0"/>
                <xsd:element ref="ns4:TaxCatchAll" minOccurs="0"/>
                <xsd:element ref="ns2:ImageTagsTaxHTField" minOccurs="0"/>
                <xsd:element ref="ns2:MediaServiceLocation" minOccurs="0"/>
                <xsd:element ref="ns2:MediaLengthInSeconds" minOccurs="0"/>
                <xsd:element ref="ns2:Background" minOccurs="0"/>
                <xsd:element ref="ns2:MediaServiceSearchProperties" minOccurs="0"/>
                <xsd:element ref="ns2:MediaServiceDocTags" minOccurs="0"/>
                <xsd:element ref="ns2:MediaServiceObjectDetectorVersion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http://schemas.microsoft.com/sharepoint/v3" elementFormDefault="qualified">
    <xsd:import namespace="http://schemas.microsoft.com/office/2006/documentManagement/types"/>
    <xsd:import namespace="http://schemas.microsoft.com/office/infopath/2007/PartnerControls"/>
    <xsd:element name="_ip_UnifiedCompliancePolicyProperties" ma:index="20" nillable="true" ma:displayName="Unified Compliance Policy Properties" ma:hidden="true" ma:internalName="_ip_UnifiedCompliancePolicyProperties" ma:readOnly="false">
      <xsd:simpleType>
        <xsd:restriction base="dms:Note"/>
      </xsd:simpleType>
    </xsd:element>
    <xsd:element name="_ip_UnifiedCompliancePolicyUIAction" ma:index="21" nillable="true" ma:displayName="Unified Compliance Policy UI Action" ma:hidden="true" ma:internalName="_ip_UnifiedCompliancePolicyUIAction" ma:readOnly="fals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1af3243-3dd4-4a8d-8c0d-dd76da1f02a5" elementFormDefault="qualified">
    <xsd:import namespace="http://schemas.microsoft.com/office/2006/documentManagement/types"/>
    <xsd:import namespace="http://schemas.microsoft.com/office/infopath/2007/PartnerControls"/>
    <xsd:element name="Status" ma:index="2" nillable="true" ma:displayName="Status" ma:default="Not started" ma:format="Dropdown" ma:internalName="Status" ma:readOnly="false">
      <xsd:simpleType>
        <xsd:restriction base="dms:Choice">
          <xsd:enumeration value="Not started"/>
          <xsd:enumeration value="In Progress"/>
          <xsd:enumeration value="Completed"/>
        </xsd:restriction>
      </xsd:simpleType>
    </xsd:element>
    <xsd:element name="Image" ma:index="3" nillable="true" ma:displayName="Image" ma:format="Image" ma:internalName="Image" ma:readOnly="false">
      <xsd:complexType>
        <xsd:complexContent>
          <xsd:extension base="dms:URL">
            <xsd:sequence>
              <xsd:element name="Url" type="dms:ValidUrl" minOccurs="0" nillable="true"/>
              <xsd:element name="Description" type="xsd:string" nillable="true"/>
            </xsd:sequence>
          </xsd:extension>
        </xsd:complexContent>
      </xsd:complexType>
    </xsd:element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CR" ma:index="10" nillable="true" ma:displayName="MediaServiceOCR" ma:hidden="true" ma:internalName="MediaServiceOCR" ma:readOnly="true">
      <xsd:simpleType>
        <xsd:restriction base="dms:Note"/>
      </xsd:simpleType>
    </xsd:element>
    <xsd:element name="MediaServiceAutoTags" ma:index="11" nillable="true" ma:displayName="MediaServiceAutoTags" ma:hidden="true" ma:internalName="MediaServiceAutoTags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AutoKeyPoints" ma:index="1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7" nillable="true" ma:displayName="KeyPoints" ma:hidden="true" ma:internalName="MediaServiceKeyPoints" ma:readOnly="false">
      <xsd:simpleType>
        <xsd:restriction base="dms:Note"/>
      </xsd:simpleType>
    </xsd:element>
    <xsd:element name="MediaServiceDateTaken" ma:index="18" nillable="true" ma:displayName="MediaServiceDateTaken" ma:hidden="true" ma:internalName="MediaServiceDateTaken" ma:readOnly="true">
      <xsd:simpleType>
        <xsd:restriction base="dms:Text"/>
      </xsd:simpleType>
    </xsd:element>
    <xsd:element name="ImageTagsTaxHTField" ma:index="25" nillable="true" ma:taxonomy="true" ma:internalName="ImageTagsTaxHTField" ma:taxonomyFieldName="MediaServiceImageTags" ma:displayName="Image Tags" ma:readOnly="false" ma:fieldId="{5cf76f15-5ced-4ddc-b409-7134ff3c332f}" ma:taxonomyMulti="true" ma:sspId="e385fb40-52d4-4fae-9c5b-3e8ff8a5878e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Location" ma:index="26" nillable="true" ma:displayName="Location" ma:hidden="true" ma:internalName="MediaServiceLocation" ma:readOnly="true">
      <xsd:simpleType>
        <xsd:restriction base="dms:Text"/>
      </xsd:simpleType>
    </xsd:element>
    <xsd:element name="MediaLengthInSeconds" ma:index="27" nillable="true" ma:displayName="MediaLengthInSeconds" ma:hidden="true" ma:internalName="MediaLengthInSeconds" ma:readOnly="true">
      <xsd:simpleType>
        <xsd:restriction base="dms:Unknown"/>
      </xsd:simpleType>
    </xsd:element>
    <xsd:element name="Background" ma:index="28" nillable="true" ma:displayName="Background" ma:default="0" ma:format="Dropdown" ma:internalName="Background">
      <xsd:simpleType>
        <xsd:restriction base="dms:Boolean"/>
      </xsd:simpleType>
    </xsd:element>
    <xsd:element name="MediaServiceSearchProperties" ma:index="29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ocTags" ma:index="30" nillable="true" ma:displayName="MediaServiceDocTags" ma:hidden="true" ma:internalName="MediaServiceDocTags" ma:readOnly="true">
      <xsd:simpleType>
        <xsd:restriction base="dms:Note"/>
      </xsd:simpleType>
    </xsd:element>
    <xsd:element name="MediaServiceObjectDetectorVersions" ma:index="31" nillable="true" ma:displayName="MediaServiceObjectDetectorVersions" ma:description="" ma:hidden="true" ma:indexed="true" ma:internalName="MediaServiceObjectDetectorVersions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6c05727-aa75-4e4a-9b5f-8a80a1165891" elementFormDefault="qualified">
    <xsd:import namespace="http://schemas.microsoft.com/office/2006/documentManagement/types"/>
    <xsd:import namespace="http://schemas.microsoft.com/office/infopath/2007/PartnerControls"/>
    <xsd:element name="SharedWithUsers" ma:index="14" nillable="true" ma:displayName="Shared With" ma:hidden="true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5" nillable="true" ma:displayName="Shared With Details" ma:hidden="true" ma:internalName="SharedWithDetail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30e9df3-be65-4c73-a93b-d1236ebd677e" elementFormDefault="qualified">
    <xsd:import namespace="http://schemas.microsoft.com/office/2006/documentManagement/types"/>
    <xsd:import namespace="http://schemas.microsoft.com/office/infopath/2007/PartnerControls"/>
    <xsd:element name="TaxCatchAll" ma:index="23" nillable="true" ma:displayName="Taxonomy Catch All Column" ma:hidden="true" ma:list="{3f6bfcbc-3db3-4ae6-bd76-326f0798ad28}" ma:internalName="TaxCatchAll" ma:readOnly="false" ma:showField="CatchAllData" ma:web="16c05727-aa75-4e4a-9b5f-8a80a1165891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displayName="Content Type"/>
        <xsd:element ref="dc:title" minOccurs="0" maxOccurs="1" ma:index="1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Status xmlns="71af3243-3dd4-4a8d-8c0d-dd76da1f02a5">Not started</Status>
    <MediaServiceKeyPoints xmlns="71af3243-3dd4-4a8d-8c0d-dd76da1f02a5" xsi:nil="true"/>
    <_ip_UnifiedCompliancePolicyUIAction xmlns="http://schemas.microsoft.com/sharepoint/v3" xsi:nil="true"/>
    <Image xmlns="71af3243-3dd4-4a8d-8c0d-dd76da1f02a5">
      <Url xsi:nil="true"/>
      <Description xsi:nil="true"/>
    </Image>
    <Background xmlns="71af3243-3dd4-4a8d-8c0d-dd76da1f02a5">false</Background>
    <_ip_UnifiedCompliancePolicyProperties xmlns="http://schemas.microsoft.com/sharepoint/v3" xsi:nil="true"/>
    <ImageTagsTaxHTField xmlns="71af3243-3dd4-4a8d-8c0d-dd76da1f02a5">
      <Terms xmlns="http://schemas.microsoft.com/office/infopath/2007/PartnerControls"/>
    </ImageTagsTaxHTField>
    <TaxCatchAll xmlns="230e9df3-be65-4c73-a93b-d1236ebd677e" xsi:nil="true"/>
  </documentManagement>
</p:properties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D2957789-34B8-480C-AF9B-3EB54B9E5C96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http://schemas.microsoft.com/sharepoint/v3"/>
    <ds:schemaRef ds:uri="71af3243-3dd4-4a8d-8c0d-dd76da1f02a5"/>
    <ds:schemaRef ds:uri="16c05727-aa75-4e4a-9b5f-8a80a1165891"/>
    <ds:schemaRef ds:uri="230e9df3-be65-4c73-a93b-d1236ebd677e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A03EEFF0-FB57-4CB4-8BFC-DF397689E2ED}">
  <ds:schemaRefs>
    <ds:schemaRef ds:uri="http://schemas.microsoft.com/office/2006/metadata/properties"/>
    <ds:schemaRef ds:uri="http://schemas.microsoft.com/office/infopath/2007/PartnerControls"/>
    <ds:schemaRef ds:uri="71af3243-3dd4-4a8d-8c0d-dd76da1f02a5"/>
    <ds:schemaRef ds:uri="http://schemas.microsoft.com/sharepoint/v3"/>
    <ds:schemaRef ds:uri="230e9df3-be65-4c73-a93b-d1236ebd677e"/>
  </ds:schemaRefs>
</ds:datastoreItem>
</file>

<file path=customXml/itemProps3.xml><?xml version="1.0" encoding="utf-8"?>
<ds:datastoreItem xmlns:ds="http://schemas.openxmlformats.org/officeDocument/2006/customXml" ds:itemID="{AA3F7EDC-E5B4-4BBC-9D2A-CBE6D46C37AD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{EF8D4FDA-DCB8-4B7E-8B89-89F2A723E210}tf22712842_win32</Template>
  <TotalTime>391</TotalTime>
  <Words>795</Words>
  <Application>Microsoft Office PowerPoint</Application>
  <PresentationFormat>Widescreen</PresentationFormat>
  <Paragraphs>62</Paragraphs>
  <Slides>12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9" baseType="lpstr">
      <vt:lpstr>Arial</vt:lpstr>
      <vt:lpstr>Bookman Old Style</vt:lpstr>
      <vt:lpstr>Calibri</vt:lpstr>
      <vt:lpstr>Franklin Gothic Book</vt:lpstr>
      <vt:lpstr>Garamond</vt:lpstr>
      <vt:lpstr>Times New Roman</vt:lpstr>
      <vt:lpstr>Custom</vt:lpstr>
      <vt:lpstr>Bank Loan Analysis  </vt:lpstr>
      <vt:lpstr>KPI’s &amp; Analysis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Meet Our Team Members:</vt:lpstr>
      <vt:lpstr>Thank You 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Bank Loan Analysis</dc:title>
  <dc:creator>Adnan Sakeer K</dc:creator>
  <cp:lastModifiedBy>Adnan Sakeer K</cp:lastModifiedBy>
  <cp:revision>21</cp:revision>
  <dcterms:created xsi:type="dcterms:W3CDTF">2023-07-21T17:38:54Z</dcterms:created>
  <dcterms:modified xsi:type="dcterms:W3CDTF">2023-07-22T04:54:54Z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0x01010079F111ED35F8CC479449609E8A0923A6</vt:lpwstr>
  </property>
</Properties>
</file>